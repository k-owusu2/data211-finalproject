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0" y="0"/>
            <a:ext cx="109728" cy="514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65760" y="457200"/>
            <a:ext cx="39319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Sleep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Tracking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3657600"/>
            <a:ext cx="10972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365760" y="384048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Kofi Owusu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DATA 211  ·  Spring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846320" y="91440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D</a:t>
            </a:r>
            <a:r>
              <a:rPr b="1" i="0" lang="en-US" sz="16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ata 211 Final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846320" y="1645920"/>
            <a:ext cx="40233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21 consecutive nights of sleep data tracked from April 5 to April 25, 2026 — visualized, analyzed, and tested for statistical significance.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846320" y="3657600"/>
            <a:ext cx="3931920" cy="7772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846320" y="385876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April 5 – April 25, 2026  |  n = 21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Question &amp; Hypotheses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48640" y="11155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Is my average nightly sleep significantly different from the recommended 8 hours?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2240280"/>
            <a:ext cx="4023360" cy="18288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65760" y="2240280"/>
            <a:ext cx="40233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23042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H₀  Null Hypothesis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283464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My average nightly sleep equals 8 hours.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(μ = 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754880" y="2240280"/>
            <a:ext cx="4023360" cy="182880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754880" y="2240280"/>
            <a:ext cx="40233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892040" y="23042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H₁  Alternative Hypothesis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892040" y="283464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My average nightly sleep does not equal 8 hours.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(μ ≠ 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One-Sample T-Test  ·  Two-tailed  ·  α = 0.05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Collection &amp; Summary Statistics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74320" y="1051560"/>
            <a:ext cx="1572768" cy="15544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274320" y="1188720"/>
            <a:ext cx="15727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6.88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274320" y="192024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274320" y="224028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993392" y="1051560"/>
            <a:ext cx="1572768" cy="155448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993392" y="1188720"/>
            <a:ext cx="15727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7.0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993392" y="192024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993392" y="224028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712464" y="1051560"/>
            <a:ext cx="1572768" cy="15544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712464" y="1188720"/>
            <a:ext cx="15727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1.77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712464" y="192024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712464" y="224028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Std Dev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31536" y="1051560"/>
            <a:ext cx="1572768" cy="155448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431536" y="1188720"/>
            <a:ext cx="15727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3.5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31536" y="192024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31536" y="224028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150608" y="1051560"/>
            <a:ext cx="1572768" cy="15544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150608" y="1188720"/>
            <a:ext cx="15727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10.5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150608" y="192024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150608" y="224028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65760" y="2788920"/>
            <a:ext cx="40233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65760" y="2788920"/>
            <a:ext cx="73152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66928" y="28529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📋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66928" y="317296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Google Sheets — logged every morning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754880" y="2788920"/>
            <a:ext cx="40233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754880" y="2788920"/>
            <a:ext cx="73152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956048" y="28529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📅 Period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956048" y="317296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April 5 – April 25,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60" y="3749040"/>
            <a:ext cx="40233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65760" y="3749040"/>
            <a:ext cx="73152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66928" y="38130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📏 Variables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66928" y="413308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Day (1–21) + sleep_hours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754880" y="3749040"/>
            <a:ext cx="40233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754880" y="3749040"/>
            <a:ext cx="73152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956048" y="38130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⚠️ Challenges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956048" y="413308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Estimating exact hours; missed logs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Daily Sleep Hours — Line Graph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77415249058_image.png"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0"/>
            <a:ext cx="65836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7040880" y="914400"/>
            <a:ext cx="1828800" cy="384048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150608" y="1051560"/>
            <a:ext cx="16093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150608" y="1600200"/>
            <a:ext cx="1609344" cy="82296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196328" y="1645920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196328" y="1901952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10.5 hrs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(Day 9)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150608" y="2606040"/>
            <a:ext cx="1609344" cy="8229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196328" y="2651760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196328" y="2907792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3.5 hrs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(Day 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150608" y="3611880"/>
            <a:ext cx="1609344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196328" y="3657600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196328" y="3913632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6.88 hrs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Sleep Distribution — Box Plot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77413755116_image.png" id="112" name="Google Shape;1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0"/>
            <a:ext cx="65836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7040880" y="914400"/>
            <a:ext cx="1828800" cy="384048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7150608" y="1051560"/>
            <a:ext cx="16093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150608" y="1600200"/>
            <a:ext cx="1609344" cy="8229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7196328" y="1645920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196328" y="1901952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6.0 hrs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150608" y="2606040"/>
            <a:ext cx="1609344" cy="82296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7196328" y="2651760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196328" y="2907792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7.0 hrs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150608" y="3611880"/>
            <a:ext cx="1609344" cy="8229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196328" y="3657600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196328" y="3913632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8.0 hrs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Sleep Trend — Scatter Plot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77415282033_image.png"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0"/>
            <a:ext cx="65836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7040880" y="914400"/>
            <a:ext cx="1828800" cy="384048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7150608" y="1051560"/>
            <a:ext cx="16093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150608" y="1554480"/>
            <a:ext cx="160934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Slight upward trend (red line) over 21 days suggesting marginal improvement, but high scatter makes this inconclusive.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Statistical Test Results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365760" y="1078992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One-Sample T-Test  ·  H₀: μ = 8  ·  H₁: μ ≠ 8  ·  α = 0.05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274320" y="1737360"/>
            <a:ext cx="1591056" cy="192024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274320" y="1828800"/>
            <a:ext cx="1591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t-statistic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274320" y="2286000"/>
            <a:ext cx="15910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−2.902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993392" y="1737360"/>
            <a:ext cx="1591056" cy="192024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1993392" y="1828800"/>
            <a:ext cx="1591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p-value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993392" y="2286000"/>
            <a:ext cx="15910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0.0088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712464" y="1737360"/>
            <a:ext cx="1591056" cy="19202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3712464" y="1828800"/>
            <a:ext cx="1591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Sample Mean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712464" y="2286000"/>
            <a:ext cx="15910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6.88 hrs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431536" y="1737360"/>
            <a:ext cx="1591056" cy="192024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5431536" y="1828800"/>
            <a:ext cx="1591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95% 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431536" y="2286000"/>
            <a:ext cx="15910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[6.08, 7.69]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7150608" y="1737360"/>
            <a:ext cx="1591056" cy="19202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7150608" y="1828800"/>
            <a:ext cx="1591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7150608" y="2286000"/>
            <a:ext cx="15910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Reject H₀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365760" y="384048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94360" y="39319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p-value (0.0088) &lt; α (0.05) — Reject the null hypothesis. Strong statistical evidence that average sleep of 6.88 hrs significantly differs from the recommended 8 hours.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2D1B69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Conclusion, Limitations &amp; Learnings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365760" y="960120"/>
            <a:ext cx="8412480" cy="132588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365760" y="960120"/>
            <a:ext cx="91440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594360" y="102412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94360" y="1353312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1B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1B69"/>
                </a:solidFill>
                <a:latin typeface="Calibri"/>
                <a:ea typeface="Calibri"/>
                <a:cs typeface="Calibri"/>
                <a:sym typeface="Calibri"/>
              </a:rPr>
              <a:t>Average sleep of 6.88 hrs is statistically significantly below the recommended 8 hours (t = −2.902, p = 0.0088). The 95% confidence interval [6.08, 7.69] confirms the deficit. I consistently undersleep across the 21-day period.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57200" y="2423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57200" y="27889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 Small sample size (n = 21) limits generalizability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 Self-reported data may have measurement error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57200" y="36118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 Only sleep duration tracked — not quality, stress, or other factors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57200" y="40233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 3-week window may not reflect typical long-term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4846320" y="24231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What I Learned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846320" y="27889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 Applied full data science pipeline to real personal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846320" y="32004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 Practiced one-sample t-test and RMarkdown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846320" y="36118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 Built meaningful visualizations with ggplot2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846320" y="40233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 Discovered consistent undersleeping with health implications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69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rebuchet MS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EDE9FE"/>
                </a:solidFill>
                <a:latin typeface="Trebuchet MS"/>
                <a:ea typeface="Trebuchet MS"/>
                <a:cs typeface="Trebuchet MS"/>
                <a:sym typeface="Trebuchet MS"/>
              </a:rPr>
              <a:t>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457200" y="4263393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Kofi Owusu  ·  DATA 211  ·  Spring 2026  ·  Metropolitan State University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